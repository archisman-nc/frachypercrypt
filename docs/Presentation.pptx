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77B4"/>
                </a:solidFill>
                <a:latin typeface="Helvetica"/>
              </a:defRPr>
            </a:pPr>
            <a:r>
              <a:t>Fractional-Order Hyperchaotic Image Encryption</a:t>
            </a:r>
            <a:br/>
            <a:r>
              <a:t>Using Sliding Mode Synchronization</a:t>
            </a:r>
          </a:p>
          <a:p>
            <a:pPr>
              <a:spcBef>
                <a:spcPts val="2000"/>
              </a:spcBef>
              <a:defRPr sz="2000">
                <a:solidFill>
                  <a:srgbClr val="2C3E50"/>
                </a:solidFill>
                <a:latin typeface="Helvetica"/>
              </a:defRPr>
            </a:pPr>
            <a:r>
              <a:t>Design, Implementation, and Comparative Research Evaluation</a:t>
            </a:r>
          </a:p>
          <a:p>
            <a:pPr>
              <a:spcBef>
                <a:spcPts val="4000"/>
              </a:spcBef>
              <a:defRPr sz="1400">
                <a:solidFill>
                  <a:srgbClr val="646464"/>
                </a:solidFill>
                <a:latin typeface="Helvetica"/>
              </a:defRPr>
            </a:pPr>
            <a:r>
              <a:t>Presenter: Research Internship Presentation  |  Date: 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Helvetica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Digital Image Security: Multimedia content transmission requires specialized high-speed ciphers due to high pixel redundancy and bulk data size.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Limitations of Traditional Cryptography: AES/RSA block ciphers suffer from high computational latency and lack diffusion efficiency for pixel streams.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Fractional Chaos Theory: Fractional-order systems (order q &lt; 1) exhibit historical memory effects and infinite parameter spaces, expanding key complexity.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Sliding Mode Control (SMC): Finite-time SMC ensures fast, noise-tolerant synchronization between decoupled Transmitter and Receiver attractors.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Helvetica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Active Synchronization Mismatch: High-precision chaotic ciphers suffer from tiny numerical floor errors (chattering) between drive and response states.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Key Reconstruction Paradox: Direct quantization of chaotic variables causes mismatch bits at boundaries, resulting in decryption failure at the receiver.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Common Workaround: Academic papers often bypass synchronization limitations by copying the exact transmitter key sequence directly to the receiver.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Objective: Design and benchmark a parallel dual-mode secure pipeline:</a:t>
            </a:r>
            <a:br/>
            <a:r>
              <a:t>  - MODE = 'paper' (faithful direct trajectory quantization)</a:t>
            </a:r>
            <a:br/>
            <a:r>
              <a:t>  - MODE = 'robust' (entropy extraction + sign majority voting + SHA-256 + PRNG)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Helvetica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Chaotic Cryptography (Sansom et al.): Pioneer ciphers utilized 1D logistic maps, vulnerable to phase space reconstruction and statistical attacks.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Hyperchaotic Systems (Li et al.): Multi-scroll 6D systems generate multiple positive Lyapunov exponents, increasing randomness and keystream sensitivity.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Fractional Dynamics (Petras et al.): Demonstrated memory effects where the derivative order 'q' serves as an additional key parameter.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Sliding Mode Synchronization (Wang &amp; Zhao): Explored projective SMC error correction, but ignored practical boundary quantization noise in secure communications.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Helvetica"/>
              </a:defRPr>
            </a:pPr>
            <a:r>
              <a:t>Hyperchaotic System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We implement a 6D fractional-order hyperchaotic system characterized by Caputo derivatives:</a:t>
            </a:r>
          </a:p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  - x1' = a * (x2 - x1) + x4</a:t>
            </a:r>
          </a:p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  - x2' = -x1 * x3 + b * x2</a:t>
            </a:r>
          </a:p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  - x3' = x1 * x2 - c * x3</a:t>
            </a:r>
          </a:p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  - x4' = d * x4 - x1 * x5</a:t>
            </a:r>
          </a:p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  - x5' = e * x5 + x2 * x6</a:t>
            </a:r>
          </a:p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  - x6' = -f * x6 + x3 * x4</a:t>
            </a:r>
          </a:p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System parameters are initialized to: a = 0.5, b = 0.2, order q = 0.8.</a:t>
            </a:r>
          </a:p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Adams-Bashforth-Moulton Solver: Evaluates memory truncation window (L = 2000) using the Short-Memory Principle to preserve fractional dynamics.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Helvetica"/>
              </a:defRPr>
            </a:pPr>
            <a:r>
              <a:t>Projective Sliding Mode Synchronization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Drive-Response Setup: Transmitter runs Drive System (x), Receiver runs Response System (y).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Error Vector: e(t) = y(t) - Gamma * x(t), with scaling matrix Gamma.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Sliding Surface Design: Fractional integral sliding surface sigma(t) ensures finite-time convergence to zero error.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Nonlinear Cancellation Controller: SMC control law eliminates system nonlinearities and injects regularized control input to minimize chattering.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Stable Steady-State Convergence: Achieving an average error of ~1.54e-3 post-convergence at step 5001.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Helvetica"/>
              </a:defRPr>
            </a:pPr>
            <a:r>
              <a:t>System Architecture Flowchart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4575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Helvetica"/>
              </a:defRPr>
            </a:pPr>
            <a:r>
              <a:t>Paper Mode: Direct 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Fidelity Focus: Keys are generated directly from trajectories without hashing, PRNGs, or majority voting.</a:t>
            </a:r>
          </a:p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Noise-Free Subspace: Audit ranking identifies x5 as the most stable state (RMSE ~ 2.33e-4) and x2 as least stable (RMSE ~ 6.01e-3).</a:t>
            </a:r>
          </a:p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Coarse Quantization Scheme: Uses only the most stable states (x1, x3, x5, x6) with noise-immune scaling factors:</a:t>
            </a:r>
          </a:p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  - c_i = (q_1[i] * 27 + q_3[i] * 9 + q_5[i] * 3 + q_6[i]) mod 256</a:t>
            </a:r>
          </a:p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  - q1, q3, q5 scale = 0.4 (values: 0, 1, 2); q6 scale = 0.1 (values: 0, 1).</a:t>
            </a:r>
          </a:p>
          <a:p>
            <a:pPr>
              <a:spcAft>
                <a:spcPts val="1000"/>
              </a:spcAft>
              <a:defRPr sz="1400">
                <a:solidFill>
                  <a:srgbClr val="444444"/>
                </a:solidFill>
                <a:latin typeface="Helvetica"/>
              </a:defRPr>
            </a:pPr>
            <a:r>
              <a:t>Guarantees 100% Key Parity: Eliminates boundary mismatches to enable perfect decryption, yielding 17 unique key values.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Helvetica"/>
              </a:defRPr>
            </a:pPr>
            <a:r>
              <a:t>Robust Mode: Cryptographic Seeding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Engineering Focus: Employs sign majority voting to bridge synchronization fluctuations.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Bit Extraction: Analyzes signs of states (x2 to x6) in blocks of size 32 (1 if positive, 0 if negative), extracting 10,240 bits.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SHA-256 Seed Generation: Compresses raw bits into a uniform 256-bit seed, diffusing correlations and eliminating statistical bias.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PRNG Keystream Expansion: Seeds a cryptographically secure NumPy PRNG to expand the keyspace uniformly over [0, 255].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AVALANCHE Propagation: Guarantees high-entropy ciphers and total key sensitivity.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Helvetica"/>
              </a:defRPr>
            </a:pPr>
            <a:r>
              <a:t>Security Metrics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745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Image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Entropy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NPCR 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UACI 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H Corr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V Corr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D Corr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Lena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robust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7.9968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99.96%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47.06%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0.0047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Lena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7.9968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99.61%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33.51%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-0.0007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Baboon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robust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7.9973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99.96%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46.93%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0.0029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Baboon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7.9974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99.61%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33.49%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0.0055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Peppers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robust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7.9974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99.96%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46.94%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0.0041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Peppers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7.9973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99.61%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33.26%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0.0054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Cameraman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robust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7.9967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99.96%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46.97%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0.0082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Cameraman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7.9968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99.61%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33.35%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-0.0060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robust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7.9974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99.96%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46.92%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-0.0023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7.9971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99.61%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33.54%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-0.0030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Helvetica"/>
              </a:defRPr>
            </a:pPr>
            <a:r>
              <a:t>Runtime Performance &amp; Throughput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3601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92"/>
                <a:gridCol w="1726692"/>
                <a:gridCol w="1726692"/>
                <a:gridCol w="1726692"/>
                <a:gridCol w="1726692"/>
                <a:gridCol w="1726692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Enc Time (s)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Dec Time (s)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Enc Throughput (MB/s)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Dec Throughput (MB/s)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Peak Memory (MB)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ROBUST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0.03253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0.04357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139.42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0.03164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0.04456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1.98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elvetica"/>
                        </a:defRPr>
                      </a:pPr>
                      <a:r>
                        <a:t>139.42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572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Synchronization overhead is a constant ~13.77s for 70,536 integration steps (equal for both modes).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Encryption throughput is equivalent (~1.92-1.98 MB/s), dominated by modulo-256 diffusion loop execution.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Helvetica"/>
              </a:defRPr>
            </a:pPr>
            <a:r>
              <a:t>Robustness Under Synchronization Noise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Robustness Benchmark: Add Gaussian noise sigma to response trajectory y(t).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Robust Mode Cliff-Edge Effect: Sign majority voting filter tolerates noise up to sigma = 5e-3. Beyond this threshold, a single flipped bit changes the SHA-256 seed, dropping key parity instantly to 0.39% and failing decryption.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Paper Mode Gradual Degradation: Trajectory noise causes localized grid boundary crossings. Key parity degrades slowly (99.91% at 1e-6, 99.49% at 1e-2).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Symmetric Diffusion Limitation: Because of carry propagation in modulo-256 diffusion, even a 0.09% key difference completely corrupts image decryption. Thus, Paper Mode decryption still fails under active noise.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Helvetica"/>
              </a:defRPr>
            </a:pPr>
            <a:r>
              <a:t>Comparative Analysis &amp;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Cryptographic Quality: Robust Mode guarantees uniform keystream distribution and high entropy (7.98), whereas Paper Mode is restricted to 17 unique key values (7.96 entropy).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Keyspace Security: Robust Mode has $2^256$ seed keyspace, ensuring brute-force resistance. Paper Mode keyspace is theoretically large ($2^376$) but practically weak due to keystream structure.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Fidelity: Paper Mode stays 100% faithful to trajectory direct-quantization, bypassing all non-physical hashes, PRNGs, and seed generators.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Deployment Recommendation: Robust Mode is recommended for real-world deployments due to high cryptographic margin and low-pass filter noise resilience.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Helvetica"/>
              </a:defRPr>
            </a:pPr>
            <a:r>
              <a:t>Future Research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Color Image Encryption: Extend the modular permutation and diffusion framework to RGB channels.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GPU Solver Acceleration: Port the ABM-PC solver and SMC calculations to CUDA/OpenCL to enable real-time execution.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Hardware Co-Processor: Design and implement the fractional synchronization controller on FPGA.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  <a:latin typeface="Helvetica"/>
              </a:defRPr>
            </a:pPr>
            <a:r>
              <a:t>Adaptive SMC Controller: Research adaptive sliding mode control to dynamically adjust gains under active channel noise.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77B4"/>
                </a:solidFill>
                <a:latin typeface="Helvetica"/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400">
                <a:solidFill>
                  <a:srgbClr val="2C3E50"/>
                </a:solidFill>
                <a:latin typeface="Helvetica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